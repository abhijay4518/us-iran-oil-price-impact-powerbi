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76" r:id="rId9"/>
    <p:sldId id="580"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12-03-2026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478226" y="970119"/>
            <a:ext cx="4746772" cy="1915537"/>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p>
          <a:p>
            <a:pPr algn="l"/>
            <a:br>
              <a:rPr lang="en-US" sz="5100" b="1" dirty="0"/>
            </a:br>
            <a:r>
              <a:rPr lang="en-US" sz="3300" b="1" i="1" dirty="0">
                <a:latin typeface="Arial" panose="020B0604020202020204" pitchFamily="34" charset="0"/>
                <a:cs typeface="Arial" panose="020B0604020202020204" pitchFamily="34" charset="0"/>
              </a:rPr>
              <a:t>Impact of US-Iran Conflict on Global Oil Prices and Petrol Prices Using Power BI</a:t>
            </a:r>
            <a:endParaRPr lang="en-US" sz="3300" b="1" i="1" kern="1200"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76746" y="354577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US" sz="1600" cap="all" dirty="0"/>
              <a:t>Abhijay Dileep Menon</a:t>
            </a:r>
          </a:p>
          <a:p>
            <a:pPr algn="l">
              <a:spcAft>
                <a:spcPts val="600"/>
              </a:spcAft>
            </a:pPr>
            <a:r>
              <a:rPr lang="en-US" sz="1600" b="1" cap="all" dirty="0"/>
              <a:t>College Name: </a:t>
            </a:r>
            <a:r>
              <a:rPr lang="en-US" sz="1600" cap="all" dirty="0"/>
              <a:t>SRM University</a:t>
            </a:r>
          </a:p>
          <a:p>
            <a:pPr algn="l">
              <a:spcAft>
                <a:spcPts val="600"/>
              </a:spcAft>
            </a:pPr>
            <a:r>
              <a:rPr lang="en-US" sz="1600" b="1" cap="all" dirty="0"/>
              <a:t>Department: </a:t>
            </a:r>
            <a:r>
              <a:rPr lang="en-US" sz="1600" cap="all" dirty="0"/>
              <a:t>Mechanical Engineering</a:t>
            </a:r>
          </a:p>
          <a:p>
            <a:pPr algn="l">
              <a:spcAft>
                <a:spcPts val="600"/>
              </a:spcAft>
            </a:pPr>
            <a:r>
              <a:rPr lang="en-US" sz="1600" b="1" cap="all" dirty="0"/>
              <a:t>Email ID: </a:t>
            </a:r>
            <a:r>
              <a:rPr lang="en-US" sz="1600" dirty="0"/>
              <a:t>abhijaymenon006@gmail.com</a:t>
            </a:r>
            <a:endParaRPr lang="en-US" sz="1600"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6" name="Picture 5">
            <a:extLst>
              <a:ext uri="{FF2B5EF4-FFF2-40B4-BE49-F238E27FC236}">
                <a16:creationId xmlns:a16="http://schemas.microsoft.com/office/drawing/2014/main" id="{A0AEB3B2-9963-8BC5-AADA-44975A9DA0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879545"/>
            <a:ext cx="4812027" cy="4812027"/>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85238" y="1919446"/>
            <a:ext cx="10515600" cy="4251960"/>
          </a:xfrm>
        </p:spPr>
        <p:txBody>
          <a:bodyPr vert="horz" lIns="91440" tIns="45720" rIns="91440" bIns="45720" rtlCol="0">
            <a:normAutofit lnSpcReduction="10000"/>
          </a:bodyPr>
          <a:lstStyle/>
          <a:p>
            <a:r>
              <a:rPr lang="en-US" sz="2400" dirty="0"/>
              <a:t>Global geopolitical conflicts significantly impact energy markets.</a:t>
            </a:r>
            <a:br>
              <a:rPr lang="en-US" sz="2400" dirty="0"/>
            </a:br>
            <a:r>
              <a:rPr lang="en-US" sz="2400" dirty="0"/>
              <a:t>The US-Iran conflict has created uncertainty in global oil supply, leading to fluctuations in crude oil prices and increases in petrol prices across multiple countries.</a:t>
            </a:r>
          </a:p>
          <a:p>
            <a:r>
              <a:rPr lang="en-US" sz="2400" dirty="0"/>
              <a:t>These price changes affect:</a:t>
            </a:r>
          </a:p>
          <a:p>
            <a:r>
              <a:rPr lang="en-US" sz="2400" dirty="0"/>
              <a:t>• Transportation costs</a:t>
            </a:r>
            <a:br>
              <a:rPr lang="en-US" sz="2400" dirty="0"/>
            </a:br>
            <a:r>
              <a:rPr lang="en-US" sz="2400" dirty="0"/>
              <a:t>• Inflation rates</a:t>
            </a:r>
            <a:br>
              <a:rPr lang="en-US" sz="2400" dirty="0"/>
            </a:br>
            <a:r>
              <a:rPr lang="en-US" sz="2400" dirty="0"/>
              <a:t>• Economic stability of oil-dependent countries</a:t>
            </a:r>
          </a:p>
          <a:p>
            <a:r>
              <a:rPr lang="en-US" sz="2400" dirty="0"/>
              <a:t>Therefore, there is a need for analyzing the relationship between war events, oil price volatility, and petrol price increases. Using an interactive data analytics system analyze geopolitical events and visualize their impact on global energy prices.</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US" sz="1200" dirty="0"/>
              <a:t>The proposed system uses Power BI data analytics to analyze the impact of geopolitical conflicts on global oil and petrol prices. </a:t>
            </a:r>
            <a:r>
              <a:rPr lang="en-IN" sz="1200" b="1" dirty="0">
                <a:latin typeface="Calibri"/>
                <a:ea typeface="Calibri"/>
                <a:cs typeface="Calibri"/>
              </a:rPr>
              <a:t>The solution will consist of the following components:</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Collection: </a:t>
            </a:r>
            <a:r>
              <a:rPr lang="en-US" sz="1200" dirty="0"/>
              <a:t>Data was collected from multiple datasets including:</a:t>
            </a:r>
          </a:p>
          <a:p>
            <a:pPr marL="305435" indent="-305435">
              <a:spcBef>
                <a:spcPct val="20000"/>
              </a:spcBef>
              <a:spcAft>
                <a:spcPts val="600"/>
              </a:spcAft>
              <a:buFont typeface="Arial"/>
              <a:buChar char="•"/>
            </a:pPr>
            <a:r>
              <a:rPr lang="en-US" sz="1200" dirty="0"/>
              <a:t>• Global crude oil daily price data</a:t>
            </a:r>
            <a:br>
              <a:rPr lang="en-US" sz="1200" dirty="0"/>
            </a:br>
            <a:r>
              <a:rPr lang="en-US" sz="1200" dirty="0"/>
              <a:t>• Petrol price comparisons across countries</a:t>
            </a:r>
            <a:br>
              <a:rPr lang="en-US" sz="1200" dirty="0"/>
            </a:br>
            <a:r>
              <a:rPr lang="en-US" sz="1200" dirty="0"/>
              <a:t>• War timeline events</a:t>
            </a:r>
            <a:br>
              <a:rPr lang="en-US" sz="1200" dirty="0"/>
            </a:br>
            <a:r>
              <a:rPr lang="en-US" sz="1200" dirty="0"/>
              <a:t>• Country economic impact indicators</a:t>
            </a:r>
            <a:endParaRPr lang="en-IN" sz="1200" dirty="0">
              <a:latin typeface="Calibri"/>
              <a:ea typeface="Calibri"/>
              <a:cs typeface="Calibri"/>
            </a:endParaRPr>
          </a:p>
          <a:p>
            <a:r>
              <a:rPr lang="en-IN" sz="1200" b="1" dirty="0">
                <a:latin typeface="Calibri"/>
                <a:ea typeface="Calibri"/>
                <a:cs typeface="Calibri"/>
              </a:rPr>
              <a:t>Data Preprocessing:</a:t>
            </a:r>
            <a:r>
              <a:rPr lang="en-US" sz="1200" dirty="0"/>
              <a:t> The datasets were cleaned and transformed using Power BI Power Query Editor.</a:t>
            </a:r>
          </a:p>
          <a:p>
            <a:r>
              <a:rPr lang="en-US" sz="1200" dirty="0"/>
              <a:t>• Removing null values</a:t>
            </a:r>
            <a:br>
              <a:rPr lang="en-US" sz="1200" dirty="0"/>
            </a:br>
            <a:r>
              <a:rPr lang="en-US" sz="1200" dirty="0"/>
              <a:t>• Changing data types</a:t>
            </a:r>
            <a:br>
              <a:rPr lang="en-US" sz="1200" dirty="0"/>
            </a:br>
            <a:r>
              <a:rPr lang="en-US" sz="1200" dirty="0"/>
              <a:t>• Standardizing country and region names</a:t>
            </a:r>
            <a:br>
              <a:rPr lang="en-US" sz="1200" dirty="0"/>
            </a:br>
            <a:r>
              <a:rPr lang="en-US" sz="1200" dirty="0"/>
              <a:t>• Creating calculated columns such as price increase percentage</a:t>
            </a:r>
          </a:p>
          <a:p>
            <a:r>
              <a:rPr lang="en-US" sz="1200" b="1" dirty="0"/>
              <a:t>Data Analysis: </a:t>
            </a:r>
            <a:r>
              <a:rPr lang="en-US" sz="1200" dirty="0"/>
              <a:t>The cleaned datasets were connected through table relationships in Power BI to analyze:</a:t>
            </a:r>
          </a:p>
          <a:p>
            <a:r>
              <a:rPr lang="en-US" sz="1200" dirty="0"/>
              <a:t>• War events vs oil price spikes</a:t>
            </a:r>
            <a:br>
              <a:rPr lang="en-US" sz="1200" dirty="0"/>
            </a:br>
            <a:r>
              <a:rPr lang="en-US" sz="1200" dirty="0"/>
              <a:t>• Oil prices vs petrol price increases</a:t>
            </a:r>
            <a:br>
              <a:rPr lang="en-US" sz="1200" dirty="0"/>
            </a:br>
            <a:r>
              <a:rPr lang="en-US" sz="1200" dirty="0"/>
              <a:t>• Petrol price increases vs economic vulnerability</a:t>
            </a:r>
            <a:endParaRPr lang="en-IN" sz="1200" dirty="0">
              <a:latin typeface="Franklin Gothic Book"/>
            </a:endParaRPr>
          </a:p>
          <a:p>
            <a:r>
              <a:rPr lang="en-US" sz="1200" b="1" dirty="0"/>
              <a:t>Visualization: </a:t>
            </a:r>
            <a:r>
              <a:rPr lang="en-US" sz="1200" dirty="0"/>
              <a:t>Interactive dashboards were created to present insights using:</a:t>
            </a:r>
          </a:p>
          <a:p>
            <a:r>
              <a:rPr lang="en-US" sz="1200" dirty="0"/>
              <a:t>• Line charts</a:t>
            </a:r>
            <a:br>
              <a:rPr lang="en-US" sz="1200" dirty="0"/>
            </a:br>
            <a:r>
              <a:rPr lang="en-US" sz="1200" dirty="0"/>
              <a:t>• Bar charts</a:t>
            </a:r>
            <a:br>
              <a:rPr lang="en-US" sz="1200" dirty="0"/>
            </a:br>
            <a:r>
              <a:rPr lang="en-US" sz="1200" dirty="0"/>
              <a:t>• Maps</a:t>
            </a:r>
            <a:br>
              <a:rPr lang="en-US" sz="1200" dirty="0"/>
            </a:br>
            <a:r>
              <a:rPr lang="en-US" sz="1200" dirty="0"/>
              <a:t>• KPI cards</a:t>
            </a:r>
            <a:br>
              <a:rPr lang="en-US" sz="1200" dirty="0"/>
            </a:br>
            <a:r>
              <a:rPr lang="en-US" sz="1200" dirty="0"/>
              <a:t>• Tables</a:t>
            </a:r>
          </a:p>
          <a:p>
            <a:r>
              <a:rPr lang="en-US" sz="1200" dirty="0"/>
              <a:t>These visualizations allow users to explore global energy market changes caused by geopolitical conflicts.</a:t>
            </a:r>
          </a:p>
          <a:p>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r>
              <a:rPr lang="en-IN" sz="2400" b="1" dirty="0"/>
              <a:t>Software Required:</a:t>
            </a:r>
          </a:p>
          <a:p>
            <a:r>
              <a:rPr lang="en-IN" sz="2400" dirty="0"/>
              <a:t>• Power BI Desktop</a:t>
            </a:r>
            <a:br>
              <a:rPr lang="en-IN" sz="2400" dirty="0"/>
            </a:br>
            <a:r>
              <a:rPr lang="en-IN" sz="2400" dirty="0"/>
              <a:t>• Microsoft Excel / CSV datasets</a:t>
            </a:r>
            <a:br>
              <a:rPr lang="en-IN" sz="2400" dirty="0"/>
            </a:br>
            <a:r>
              <a:rPr lang="en-IN" sz="2400" dirty="0"/>
              <a:t>• Windows operating system</a:t>
            </a:r>
            <a:br>
              <a:rPr lang="en-IN" sz="2400" dirty="0"/>
            </a:br>
            <a:endParaRPr lang="en-IN" sz="2400" dirty="0"/>
          </a:p>
          <a:p>
            <a:r>
              <a:rPr lang="en-IN" sz="2400" b="1" dirty="0"/>
              <a:t>Libraries / Tools Used</a:t>
            </a:r>
          </a:p>
          <a:p>
            <a:r>
              <a:rPr lang="en-IN" sz="2400" dirty="0"/>
              <a:t>• Power Query Editor (Data Cleaning)</a:t>
            </a:r>
            <a:br>
              <a:rPr lang="en-IN" sz="2400" dirty="0"/>
            </a:br>
            <a:r>
              <a:rPr lang="en-IN" sz="2400" dirty="0"/>
              <a:t>• Data Modelling (Table Relationships)</a:t>
            </a:r>
            <a:br>
              <a:rPr lang="en-IN" sz="2400" dirty="0"/>
            </a:br>
            <a:r>
              <a:rPr lang="en-IN" sz="2400" dirty="0"/>
              <a:t>• DAX (Data Analysis Expressions)</a:t>
            </a:r>
            <a:br>
              <a:rPr lang="en-IN" sz="2400" dirty="0"/>
            </a:br>
            <a:r>
              <a:rPr lang="en-IN" sz="2400" dirty="0"/>
              <a:t>• Interactive Visualizations</a:t>
            </a:r>
            <a:br>
              <a:rPr lang="en-IN" sz="2400" dirty="0"/>
            </a:br>
            <a:r>
              <a:rPr lang="en-IN" sz="2400" dirty="0"/>
              <a:t>• Dashboard Filtering and Slicers</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735298"/>
          </a:xfrm>
        </p:spPr>
        <p:txBody>
          <a:bodyPr vert="horz" lIns="91440" tIns="45720" rIns="91440" bIns="45720" rtlCol="0">
            <a:normAutofit fontScale="85000" lnSpcReduction="20000"/>
          </a:bodyPr>
          <a:lstStyle/>
          <a:p>
            <a:pPr marL="0" indent="0">
              <a:buNone/>
            </a:pPr>
            <a:r>
              <a:rPr lang="en-US" sz="2300" b="1" dirty="0"/>
              <a:t>Data Analysis Algorithm:</a:t>
            </a:r>
          </a:p>
          <a:p>
            <a:r>
              <a:rPr lang="en-US" sz="1600" dirty="0"/>
              <a:t>The project uses data analytics techniques.</a:t>
            </a:r>
          </a:p>
          <a:p>
            <a:pPr marL="0" indent="0">
              <a:buNone/>
            </a:pPr>
            <a:r>
              <a:rPr lang="en-US" sz="1600" b="1" dirty="0"/>
              <a:t>1.       Data Input</a:t>
            </a:r>
          </a:p>
          <a:p>
            <a:r>
              <a:rPr lang="en-US" sz="1600" dirty="0"/>
              <a:t>• Crude oil daily price dataset</a:t>
            </a:r>
            <a:br>
              <a:rPr lang="en-US" sz="1600" dirty="0"/>
            </a:br>
            <a:r>
              <a:rPr lang="en-US" sz="1600" dirty="0"/>
              <a:t>• Petrol price comparison dataset</a:t>
            </a:r>
            <a:br>
              <a:rPr lang="en-US" sz="1600" dirty="0"/>
            </a:br>
            <a:r>
              <a:rPr lang="en-US" sz="1600" dirty="0"/>
              <a:t>• War event timeline dataset</a:t>
            </a:r>
            <a:br>
              <a:rPr lang="en-US" sz="1600" dirty="0"/>
            </a:br>
            <a:r>
              <a:rPr lang="en-US" sz="1600" dirty="0"/>
              <a:t>• Country economic impact dataset</a:t>
            </a:r>
            <a:br>
              <a:rPr lang="en-US" sz="1600" dirty="0"/>
            </a:br>
            <a:endParaRPr lang="en-US" sz="1600" dirty="0"/>
          </a:p>
          <a:p>
            <a:pPr marL="0" indent="0">
              <a:buNone/>
            </a:pPr>
            <a:r>
              <a:rPr lang="en-US" sz="1600" b="1" dirty="0"/>
              <a:t>2.       Data Modeling</a:t>
            </a:r>
            <a:endParaRPr lang="en-US" sz="1600" dirty="0"/>
          </a:p>
          <a:p>
            <a:r>
              <a:rPr lang="en-US" sz="1600" dirty="0"/>
              <a:t>Relationships were created between datasets to build a structured data model:</a:t>
            </a:r>
          </a:p>
          <a:p>
            <a:r>
              <a:rPr lang="en-US" sz="1600" dirty="0"/>
              <a:t>War Events → Oil Price Changes → Petrol Price Impact → Economic Impact</a:t>
            </a:r>
          </a:p>
          <a:p>
            <a:pPr marL="0" indent="0">
              <a:buNone/>
            </a:pPr>
            <a:r>
              <a:rPr lang="en-US" sz="1600" b="1" dirty="0"/>
              <a:t>3.       DAX Calculations</a:t>
            </a:r>
            <a:endParaRPr lang="en-US" sz="1600" dirty="0"/>
          </a:p>
          <a:p>
            <a:r>
              <a:rPr lang="en-US" sz="1600" dirty="0"/>
              <a:t>Important measures were created using DAX such as:</a:t>
            </a:r>
          </a:p>
          <a:p>
            <a:r>
              <a:rPr lang="en-US" sz="1600" dirty="0"/>
              <a:t>• Average oil price</a:t>
            </a:r>
            <a:br>
              <a:rPr lang="en-US" sz="1600" dirty="0"/>
            </a:br>
            <a:r>
              <a:rPr lang="en-US" sz="1600" dirty="0"/>
              <a:t>• Petrol price increase percentage</a:t>
            </a:r>
            <a:br>
              <a:rPr lang="en-US" sz="1600" dirty="0"/>
            </a:br>
            <a:r>
              <a:rPr lang="en-US" sz="1600" dirty="0"/>
              <a:t>• Oil market volatility</a:t>
            </a:r>
            <a:br>
              <a:rPr lang="en-US" sz="1600" dirty="0"/>
            </a:br>
            <a:r>
              <a:rPr lang="en-US" sz="1600" dirty="0"/>
              <a:t>• Total war events</a:t>
            </a:r>
            <a:br>
              <a:rPr lang="en-US" sz="1600" dirty="0"/>
            </a:br>
            <a:endParaRPr lang="en-US" sz="1600" dirty="0"/>
          </a:p>
          <a:p>
            <a:pPr marL="0" indent="0">
              <a:buNone/>
            </a:pPr>
            <a:r>
              <a:rPr lang="en-US" sz="1600" b="1" dirty="0"/>
              <a:t>4.       Dashboard Deployment</a:t>
            </a:r>
            <a:endParaRPr lang="en-US" sz="1600" dirty="0"/>
          </a:p>
          <a:p>
            <a:r>
              <a:rPr lang="en-US" sz="1600" dirty="0"/>
              <a:t>The dashboards were created in Power BI Desktop.</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2800" b="1" cap="all" dirty="0">
                <a:latin typeface="Arial"/>
                <a:cs typeface="Arial"/>
              </a:rPr>
              <a:t>Result:</a:t>
            </a:r>
            <a:endParaRPr lang="en-US" sz="2800" dirty="0"/>
          </a:p>
        </p:txBody>
      </p:sp>
      <p:pic>
        <p:nvPicPr>
          <p:cNvPr id="4" name="Content Placeholder 3">
            <a:extLst>
              <a:ext uri="{FF2B5EF4-FFF2-40B4-BE49-F238E27FC236}">
                <a16:creationId xmlns:a16="http://schemas.microsoft.com/office/drawing/2014/main" id="{EDABE4EF-6355-EAD3-55CD-6D57453713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pic>
        <p:nvPicPr>
          <p:cNvPr id="12" name="Picture 11">
            <a:extLst>
              <a:ext uri="{FF2B5EF4-FFF2-40B4-BE49-F238E27FC236}">
                <a16:creationId xmlns:a16="http://schemas.microsoft.com/office/drawing/2014/main" id="{A2015869-ECAA-A7AC-C3A2-1BAA447AB8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854" y="995445"/>
            <a:ext cx="9639714" cy="5626851"/>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4CB75-0EA1-A784-5679-25F06578268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10D6408-8E39-4440-9E1C-F48EAF5B27AF}"/>
              </a:ext>
            </a:extLst>
          </p:cNvPr>
          <p:cNvSpPr>
            <a:spLocks noGrp="1"/>
          </p:cNvSpPr>
          <p:nvPr>
            <p:ph idx="1"/>
          </p:nvPr>
        </p:nvSpPr>
        <p:spPr/>
        <p:txBody>
          <a:bodyPr/>
          <a:lstStyle/>
          <a:p>
            <a:endParaRPr lang="en-IN" dirty="0"/>
          </a:p>
          <a:p>
            <a:pPr marL="0" indent="0">
              <a:buNone/>
            </a:pPr>
            <a:r>
              <a:rPr lang="en-IN" dirty="0"/>
              <a:t> </a:t>
            </a:r>
          </a:p>
          <a:p>
            <a:pPr marL="0" indent="0">
              <a:buNone/>
            </a:pPr>
            <a:r>
              <a:rPr lang="en-IN" b="1" dirty="0"/>
              <a:t>Result :</a:t>
            </a:r>
          </a:p>
        </p:txBody>
      </p:sp>
      <p:pic>
        <p:nvPicPr>
          <p:cNvPr id="5" name="Picture 4">
            <a:extLst>
              <a:ext uri="{FF2B5EF4-FFF2-40B4-BE49-F238E27FC236}">
                <a16:creationId xmlns:a16="http://schemas.microsoft.com/office/drawing/2014/main" id="{A72C9828-ADCC-6E1B-A77D-504AD793DA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937" y="845002"/>
            <a:ext cx="9993087" cy="5621111"/>
          </a:xfrm>
          <a:prstGeom prst="rect">
            <a:avLst/>
          </a:prstGeom>
        </p:spPr>
      </p:pic>
    </p:spTree>
    <p:extLst>
      <p:ext uri="{BB962C8B-B14F-4D97-AF65-F5344CB8AC3E}">
        <p14:creationId xmlns:p14="http://schemas.microsoft.com/office/powerpoint/2010/main" val="3632812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D323-20A7-A182-C9D9-DBC7AC2267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8087323-8530-B9B3-B6A3-8E6677BE2E9F}"/>
              </a:ext>
            </a:extLst>
          </p:cNvPr>
          <p:cNvSpPr>
            <a:spLocks noGrp="1"/>
          </p:cNvSpPr>
          <p:nvPr>
            <p:ph idx="1"/>
          </p:nvPr>
        </p:nvSpPr>
        <p:spPr/>
        <p:txBody>
          <a:bodyPr/>
          <a:lstStyle/>
          <a:p>
            <a:endParaRPr lang="en-IN" dirty="0"/>
          </a:p>
          <a:p>
            <a:endParaRPr lang="en-IN" dirty="0"/>
          </a:p>
          <a:p>
            <a:pPr marL="0" indent="0">
              <a:buNone/>
            </a:pPr>
            <a:r>
              <a:rPr lang="en-IN" b="1" dirty="0"/>
              <a:t>Result :</a:t>
            </a:r>
          </a:p>
        </p:txBody>
      </p:sp>
      <p:pic>
        <p:nvPicPr>
          <p:cNvPr id="5" name="Picture 4">
            <a:extLst>
              <a:ext uri="{FF2B5EF4-FFF2-40B4-BE49-F238E27FC236}">
                <a16:creationId xmlns:a16="http://schemas.microsoft.com/office/drawing/2014/main" id="{7575B529-E415-84D7-176E-B41B272743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0628" y="765111"/>
            <a:ext cx="10035591" cy="5645020"/>
          </a:xfrm>
          <a:prstGeom prst="rect">
            <a:avLst/>
          </a:prstGeom>
        </p:spPr>
      </p:pic>
    </p:spTree>
    <p:extLst>
      <p:ext uri="{BB962C8B-B14F-4D97-AF65-F5344CB8AC3E}">
        <p14:creationId xmlns:p14="http://schemas.microsoft.com/office/powerpoint/2010/main" val="3654913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2400" dirty="0"/>
              <a:t>The project successfully demonstrates how geopolitical conflicts influence global energy markets.</a:t>
            </a:r>
          </a:p>
          <a:p>
            <a:r>
              <a:rPr lang="en-US" sz="2400" dirty="0"/>
              <a:t>Key findings include:</a:t>
            </a:r>
          </a:p>
          <a:p>
            <a:r>
              <a:rPr lang="en-US" sz="2400" dirty="0"/>
              <a:t>• Oil prices increased significantly during periods of conflict escalation.</a:t>
            </a:r>
            <a:br>
              <a:rPr lang="en-US" sz="2400" dirty="0"/>
            </a:br>
            <a:r>
              <a:rPr lang="en-US" sz="2400" dirty="0"/>
              <a:t>• Countries highly dependent on oil imports experienced the largest petrol price increases.</a:t>
            </a:r>
            <a:br>
              <a:rPr lang="en-US" sz="2400" dirty="0"/>
            </a:br>
            <a:r>
              <a:rPr lang="en-US" sz="2400" dirty="0"/>
              <a:t>• Economic indicators such as inflation risk and GDP impact were strongly correlated with oil price fluctuations.</a:t>
            </a:r>
          </a:p>
          <a:p>
            <a:pPr marL="0" indent="0">
              <a:buNone/>
            </a:pPr>
            <a:r>
              <a:rPr lang="en-US" sz="2400" b="1" dirty="0"/>
              <a:t>Power BI dashboards provide a powerful way to visualize complex geopolitical and economic relationships.</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indent="0">
              <a:buNone/>
            </a:pPr>
            <a:r>
              <a:rPr lang="en-US" sz="2400" dirty="0"/>
              <a:t>• Integrating real-time oil price APIs</a:t>
            </a:r>
            <a:br>
              <a:rPr lang="en-US" sz="2400" dirty="0"/>
            </a:br>
            <a:r>
              <a:rPr lang="en-US" sz="2400" dirty="0"/>
              <a:t>• Expanding analysis to include additional conflicts and geopolitical events</a:t>
            </a:r>
            <a:br>
              <a:rPr lang="en-US" sz="2400" dirty="0"/>
            </a:br>
            <a:r>
              <a:rPr lang="en-US" sz="2400" dirty="0"/>
              <a:t>• Applying machine learning models to predict future oil price trends</a:t>
            </a:r>
            <a:br>
              <a:rPr lang="en-US" sz="2400" dirty="0"/>
            </a:br>
            <a:r>
              <a:rPr lang="en-US" sz="2400" dirty="0"/>
              <a:t>• Including additional economic indicators such as inflation and transportation costs</a:t>
            </a:r>
            <a:br>
              <a:rPr lang="en-US" sz="2400" dirty="0"/>
            </a:br>
            <a:r>
              <a:rPr lang="en-US" sz="2400" dirty="0"/>
              <a:t>• Deploying dashboards online using Power BI Service</a:t>
            </a:r>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Dataset : </a:t>
            </a:r>
            <a:r>
              <a:rPr lang="en-IN" sz="2200" u="sng" dirty="0">
                <a:latin typeface="Franklin Gothic Book"/>
              </a:rPr>
              <a:t>Kaggle.com</a:t>
            </a:r>
          </a:p>
          <a:p>
            <a:pPr marL="0" indent="0">
              <a:buNone/>
            </a:pPr>
            <a:r>
              <a:rPr lang="en-IN" sz="2200" dirty="0"/>
              <a:t>International energy market reports</a:t>
            </a:r>
          </a:p>
          <a:p>
            <a:pPr marL="0" indent="0">
              <a:buNone/>
            </a:pPr>
            <a:endParaRPr lang="en-IN" sz="2200" dirty="0">
              <a:latin typeface="Franklin Gothic Book"/>
            </a:endParaRPr>
          </a:p>
          <a:p>
            <a:pPr marL="0" indent="0">
              <a:buNone/>
            </a:pPr>
            <a:r>
              <a:rPr lang="en-IN" sz="2200">
                <a:latin typeface="Franklin Gothic Book"/>
              </a:rPr>
              <a:t>GitHub </a:t>
            </a:r>
            <a:r>
              <a:rPr lang="en-IN" sz="2200" dirty="0">
                <a:latin typeface="Franklin Gothic Book"/>
              </a:rPr>
              <a:t>Link:</a:t>
            </a:r>
            <a:r>
              <a:rPr lang="en-IN" sz="2200" dirty="0">
                <a:solidFill>
                  <a:srgbClr val="0070C0"/>
                </a:solidFill>
                <a:latin typeface="Franklin Gothic Book"/>
              </a:rPr>
              <a:t> </a:t>
            </a:r>
            <a:r>
              <a:rPr lang="en-IN" sz="2200" u="sng" dirty="0">
                <a:solidFill>
                  <a:srgbClr val="0070C0"/>
                </a:solidFill>
                <a:latin typeface="Franklin Gothic Book"/>
              </a:rPr>
              <a:t>Link</a:t>
            </a:r>
          </a:p>
          <a:p>
            <a:pPr marL="0" indent="0">
              <a:buNone/>
            </a:pPr>
            <a:r>
              <a:rPr lang="en-IN" sz="2200" dirty="0" err="1">
                <a:latin typeface="Franklin Gothic Book"/>
              </a:rPr>
              <a:t>Linkdin</a:t>
            </a:r>
            <a:r>
              <a:rPr lang="en-IN" sz="2200" dirty="0">
                <a:latin typeface="Franklin Gothic Book"/>
              </a:rPr>
              <a:t> Link : </a:t>
            </a:r>
          </a:p>
          <a:p>
            <a:pPr marL="0" indent="0">
              <a:buNone/>
            </a:pPr>
            <a:endParaRPr lang="en-IN" sz="2200" u="sng" dirty="0">
              <a:solidFill>
                <a:srgbClr val="0070C0"/>
              </a:solidFill>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710</Words>
  <Application>Microsoft Office PowerPoint</Application>
  <PresentationFormat>Widescreen</PresentationFormat>
  <Paragraphs>74</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abhijay menon</cp:lastModifiedBy>
  <cp:revision>104</cp:revision>
  <dcterms:created xsi:type="dcterms:W3CDTF">2024-05-21T11:55:07Z</dcterms:created>
  <dcterms:modified xsi:type="dcterms:W3CDTF">2026-03-12T09:45:04Z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